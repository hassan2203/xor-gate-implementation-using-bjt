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7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6B557-AC5D-481F-AB13-DE1C0F000C9C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A3F83-444B-46D8-A12B-B01BD13C5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9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A3F83-444B-46D8-A12B-B01BD13C5F9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34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33763DB-45A7-42D3-8E03-4D7F6ACA19D0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A6785-61C8-4A67-94D6-D6049AE2568C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7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879F-FD8B-4CBF-8C20-E10FBAACF92C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5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B396F-90B0-4A4C-81CD-9879646564BC}" type="datetime1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4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A0766-DBB4-4247-85DA-BB02661B4A62}" type="datetime1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4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08894-86FA-4FEF-91E2-4932F7DED5CF}" type="datetime1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0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C117-AB28-4358-B0EE-9FCCE6446295}" type="datetime1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6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C4671-D89B-4B18-8758-F2B24C9967C6}" type="datetime1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5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80966-5952-4B4E-9715-D64C55ADEE5E}" type="datetime1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02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3FED-503E-467B-BFDC-E6829DB00024}" type="datetime1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90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39667-BFBA-4FB2-A427-70BA74AB5A0C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34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E097-0499-4C8E-A643-F2995C50C61B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85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B13A9-DABE-43F7-B95B-8B8885837D87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78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5934C-3363-41A0-A85E-C2CD73D24730}" type="datetime1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59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CE41-EB97-43FF-A8B2-B5AED1049906}" type="datetime1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44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3D0203E-289C-4A98-9A3F-ED58311F95B5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18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CD61006-92D6-4CCF-A674-F85B9C31D820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43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980CD48-C7E8-4041-92D8-331B97D6DB60}" type="datetime1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8D4FB97-72F7-4DC0-A829-679633247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6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Tu3LwpF6XI&amp;t=660s&amp;pp=ygUlaG93IHRvIG1ha2UgeG9yIGdhdGUgdXNpbmcgdHJhbnNpc3Rvcg%3D%3D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8CAD2-16A6-647F-EED1-2BDFFE22C7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XOR Gate Implementation using BJTs</a:t>
            </a:r>
            <a:br>
              <a:rPr lang="en-US" sz="60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48945-D568-066B-0A89-4792ACD0BC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1400" dirty="0">
                <a:solidFill>
                  <a:schemeClr val="bg1"/>
                </a:solidFill>
              </a:rPr>
              <a:t>Hassan Ali Ahmad              NUM-BSEE-2023-03</a:t>
            </a:r>
          </a:p>
          <a:p>
            <a:r>
              <a:rPr lang="en-US" sz="1400" dirty="0">
                <a:solidFill>
                  <a:schemeClr val="bg1"/>
                </a:solidFill>
              </a:rPr>
              <a:t>Raheem Bakhsh                    NUM-BSEE-2023-10</a:t>
            </a:r>
          </a:p>
          <a:p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4BB155-E620-B43F-A8B1-E197959FA250}"/>
              </a:ext>
            </a:extLst>
          </p:cNvPr>
          <p:cNvSpPr txBox="1"/>
          <p:nvPr/>
        </p:nvSpPr>
        <p:spPr>
          <a:xfrm>
            <a:off x="6376620" y="5177135"/>
            <a:ext cx="410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Instructor: Ms. Zulaikha Kiran</a:t>
            </a:r>
          </a:p>
          <a:p>
            <a:r>
              <a:rPr lang="en-US" sz="1200" dirty="0">
                <a:solidFill>
                  <a:schemeClr val="bg1"/>
                </a:solidFill>
              </a:rPr>
              <a:t>Lab Engineer: Eng. Muhammad Imtiaz-</a:t>
            </a:r>
            <a:r>
              <a:rPr lang="en-US" sz="1200" dirty="0" err="1">
                <a:solidFill>
                  <a:schemeClr val="bg1"/>
                </a:solidFill>
              </a:rPr>
              <a:t>Ul</a:t>
            </a:r>
            <a:r>
              <a:rPr lang="en-US" sz="1200" dirty="0">
                <a:solidFill>
                  <a:schemeClr val="bg1"/>
                </a:solidFill>
              </a:rPr>
              <a:t>-Hassan</a:t>
            </a:r>
          </a:p>
        </p:txBody>
      </p:sp>
    </p:spTree>
    <p:extLst>
      <p:ext uri="{BB962C8B-B14F-4D97-AF65-F5344CB8AC3E}">
        <p14:creationId xmlns:p14="http://schemas.microsoft.com/office/powerpoint/2010/main" val="422150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clusive-OR (XOR) Digital Logic Gate">
            <a:extLst>
              <a:ext uri="{FF2B5EF4-FFF2-40B4-BE49-F238E27FC236}">
                <a16:creationId xmlns:a16="http://schemas.microsoft.com/office/drawing/2014/main" id="{0E1C6D07-56FF-B215-341E-863B994EA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46" y="1782500"/>
            <a:ext cx="4591050" cy="281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XOR Gate Truth Table, Symbol, Diagram ...">
            <a:extLst>
              <a:ext uri="{FF2B5EF4-FFF2-40B4-BE49-F238E27FC236}">
                <a16:creationId xmlns:a16="http://schemas.microsoft.com/office/drawing/2014/main" id="{DDB15EB9-81B7-F166-D52F-E1D7A8437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477" y="1618936"/>
            <a:ext cx="6376856" cy="3350303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149D82-645E-DDB8-883F-7B5A6B018517}"/>
              </a:ext>
            </a:extLst>
          </p:cNvPr>
          <p:cNvSpPr txBox="1"/>
          <p:nvPr/>
        </p:nvSpPr>
        <p:spPr>
          <a:xfrm>
            <a:off x="663677" y="5279408"/>
            <a:ext cx="3518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 gate Symbol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BF2524-6C6B-2CEF-2079-D104C4674305}"/>
              </a:ext>
            </a:extLst>
          </p:cNvPr>
          <p:cNvSpPr txBox="1"/>
          <p:nvPr/>
        </p:nvSpPr>
        <p:spPr>
          <a:xfrm>
            <a:off x="6474542" y="5367914"/>
            <a:ext cx="4110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 gate Truth Table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7206E-58F8-8B3D-02A3-03117420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DCBE71-86E0-070F-5A98-51CAD6A8ACC6}"/>
              </a:ext>
            </a:extLst>
          </p:cNvPr>
          <p:cNvSpPr txBox="1"/>
          <p:nvPr/>
        </p:nvSpPr>
        <p:spPr>
          <a:xfrm>
            <a:off x="914400" y="442452"/>
            <a:ext cx="3834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Introduction </a:t>
            </a:r>
          </a:p>
        </p:txBody>
      </p:sp>
    </p:spTree>
    <p:extLst>
      <p:ext uri="{BB962C8B-B14F-4D97-AF65-F5344CB8AC3E}">
        <p14:creationId xmlns:p14="http://schemas.microsoft.com/office/powerpoint/2010/main" val="1499556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D5059-4239-4BD8-6CAD-62BCAE65DA5D}"/>
              </a:ext>
            </a:extLst>
          </p:cNvPr>
          <p:cNvSpPr txBox="1"/>
          <p:nvPr/>
        </p:nvSpPr>
        <p:spPr>
          <a:xfrm>
            <a:off x="1229193" y="658177"/>
            <a:ext cx="5059181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54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Implementation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BE7B8-BEC0-E1A7-C7B8-8CCF0E1C5704}"/>
              </a:ext>
            </a:extLst>
          </p:cNvPr>
          <p:cNvSpPr txBox="1"/>
          <p:nvPr/>
        </p:nvSpPr>
        <p:spPr>
          <a:xfrm>
            <a:off x="1229193" y="1655897"/>
            <a:ext cx="2141095" cy="469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5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Software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F3F03-8C4F-F5DB-B372-9109BA164E76}"/>
              </a:ext>
            </a:extLst>
          </p:cNvPr>
          <p:cNvSpPr txBox="1"/>
          <p:nvPr/>
        </p:nvSpPr>
        <p:spPr>
          <a:xfrm>
            <a:off x="1581462" y="2200400"/>
            <a:ext cx="2645764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Noto Sans TC" pitchFamily="34" charset="-122"/>
                <a:cs typeface="Times New Roman" panose="02020603050405020304" pitchFamily="18" charset="0"/>
              </a:rPr>
              <a:t>Proteus</a:t>
            </a:r>
          </a:p>
          <a:p>
            <a:pPr marL="457200" indent="-45720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Noto Sans TC" pitchFamily="34" charset="-122"/>
                <a:cs typeface="Times New Roman" panose="02020603050405020304" pitchFamily="18" charset="0"/>
              </a:rPr>
              <a:t>Proto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337400-FB47-A424-BAA7-97322000E5C4}"/>
              </a:ext>
            </a:extLst>
          </p:cNvPr>
          <p:cNvSpPr txBox="1"/>
          <p:nvPr/>
        </p:nvSpPr>
        <p:spPr>
          <a:xfrm>
            <a:off x="6464509" y="2200400"/>
            <a:ext cx="4889291" cy="2291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Five PN2222 Transistors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Resistors</a:t>
            </a:r>
            <a:endParaRPr lang="en-US" sz="2400" dirty="0"/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Power Supply (8V)</a:t>
            </a:r>
            <a:endParaRPr lang="en-US" sz="2400" dirty="0"/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Breadboard</a:t>
            </a:r>
            <a:endParaRPr lang="en-US" sz="2400" dirty="0"/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400" dirty="0"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Connecting Wires</a:t>
            </a:r>
            <a:endParaRPr lang="en-US" sz="2400" dirty="0"/>
          </a:p>
          <a:p>
            <a:pPr algn="l">
              <a:lnSpc>
                <a:spcPts val="2850"/>
              </a:lnSpc>
              <a:buSzPct val="100000"/>
            </a:pP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97C8F4-5C63-1A85-FBDC-C5D8148EA20E}"/>
              </a:ext>
            </a:extLst>
          </p:cNvPr>
          <p:cNvSpPr txBox="1"/>
          <p:nvPr/>
        </p:nvSpPr>
        <p:spPr>
          <a:xfrm>
            <a:off x="6907969" y="1655897"/>
            <a:ext cx="2445893" cy="469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5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Hardware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AE1A9CB-C05A-BF9A-4C17-CF06952F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913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231B1F-91CF-5345-4B1E-FDAA02ED1E83}"/>
              </a:ext>
            </a:extLst>
          </p:cNvPr>
          <p:cNvSpPr txBox="1"/>
          <p:nvPr/>
        </p:nvSpPr>
        <p:spPr>
          <a:xfrm>
            <a:off x="474687" y="61024"/>
            <a:ext cx="2773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8AC31-AB59-40E7-7D39-947950CA1233}"/>
              </a:ext>
            </a:extLst>
          </p:cNvPr>
          <p:cNvSpPr txBox="1"/>
          <p:nvPr/>
        </p:nvSpPr>
        <p:spPr>
          <a:xfrm>
            <a:off x="615847" y="482077"/>
            <a:ext cx="32403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8F772-93F1-D1DB-AFA7-C4D5ED55B086}"/>
              </a:ext>
            </a:extLst>
          </p:cNvPr>
          <p:cNvSpPr txBox="1"/>
          <p:nvPr/>
        </p:nvSpPr>
        <p:spPr>
          <a:xfrm>
            <a:off x="7240251" y="510621"/>
            <a:ext cx="3807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Implementation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EF0BB5-FD47-180A-F975-CD1F78EA725A}"/>
              </a:ext>
            </a:extLst>
          </p:cNvPr>
          <p:cNvSpPr/>
          <p:nvPr/>
        </p:nvSpPr>
        <p:spPr>
          <a:xfrm>
            <a:off x="5081666" y="1436184"/>
            <a:ext cx="6745575" cy="503207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60BC5-5D88-CC60-1554-B8F2F3F9B6F3}"/>
              </a:ext>
            </a:extLst>
          </p:cNvPr>
          <p:cNvSpPr/>
          <p:nvPr/>
        </p:nvSpPr>
        <p:spPr>
          <a:xfrm>
            <a:off x="474687" y="1436184"/>
            <a:ext cx="3637614" cy="503207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782A93-EBD0-9E44-C8FB-DD5273CB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106713" cy="501650"/>
          </a:xfrm>
        </p:spPr>
        <p:txBody>
          <a:bodyPr/>
          <a:lstStyle/>
          <a:p>
            <a:fld id="{78D4FB97-72F7-4DC0-A829-679633247F2D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BA187-8628-28BF-207E-9504242717B2}"/>
              </a:ext>
            </a:extLst>
          </p:cNvPr>
          <p:cNvSpPr txBox="1"/>
          <p:nvPr/>
        </p:nvSpPr>
        <p:spPr>
          <a:xfrm>
            <a:off x="10624282" y="584244"/>
            <a:ext cx="274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78D4FB97-72F7-4DC0-A829-679633247F2D}" type="slidenum">
              <a:rPr lang="en-US" sz="2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079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2C80C3-D5E2-A548-0776-39DAAC09A00B}"/>
              </a:ext>
            </a:extLst>
          </p:cNvPr>
          <p:cNvSpPr txBox="1"/>
          <p:nvPr/>
        </p:nvSpPr>
        <p:spPr>
          <a:xfrm>
            <a:off x="3575123" y="1654630"/>
            <a:ext cx="5239093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48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Circuit Operations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DA9547B-A1E9-6280-7F23-2954751DB62E}"/>
              </a:ext>
            </a:extLst>
          </p:cNvPr>
          <p:cNvSpPr/>
          <p:nvPr/>
        </p:nvSpPr>
        <p:spPr>
          <a:xfrm>
            <a:off x="1843790" y="2991860"/>
            <a:ext cx="510302" cy="618981"/>
          </a:xfrm>
          <a:prstGeom prst="roundRect">
            <a:avLst>
              <a:gd name="adj" fmla="val 666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/>
          <a:lstStyle/>
          <a:p>
            <a:r>
              <a:rPr lang="en-US" sz="36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E1D5BDFD-C85F-BD76-90A6-91891FC4288B}"/>
              </a:ext>
            </a:extLst>
          </p:cNvPr>
          <p:cNvSpPr/>
          <p:nvPr/>
        </p:nvSpPr>
        <p:spPr>
          <a:xfrm>
            <a:off x="7505076" y="4325432"/>
            <a:ext cx="510302" cy="618981"/>
          </a:xfrm>
          <a:prstGeom prst="roundRect">
            <a:avLst>
              <a:gd name="adj" fmla="val 666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/>
          <a:lstStyle/>
          <a:p>
            <a:r>
              <a:rPr lang="en-US" sz="36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2637D89F-5400-1F97-DC0F-9B4BED64DDFA}"/>
              </a:ext>
            </a:extLst>
          </p:cNvPr>
          <p:cNvSpPr/>
          <p:nvPr/>
        </p:nvSpPr>
        <p:spPr>
          <a:xfrm>
            <a:off x="7505076" y="2991860"/>
            <a:ext cx="510302" cy="618981"/>
          </a:xfrm>
          <a:prstGeom prst="roundRect">
            <a:avLst>
              <a:gd name="adj" fmla="val 666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/>
          <a:lstStyle/>
          <a:p>
            <a:r>
              <a:rPr lang="en-US" sz="36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7CD2261A-C26C-F095-F216-18B92C2A595D}"/>
              </a:ext>
            </a:extLst>
          </p:cNvPr>
          <p:cNvSpPr/>
          <p:nvPr/>
        </p:nvSpPr>
        <p:spPr>
          <a:xfrm>
            <a:off x="1774930" y="4362651"/>
            <a:ext cx="510302" cy="618981"/>
          </a:xfrm>
          <a:prstGeom prst="roundRect">
            <a:avLst>
              <a:gd name="adj" fmla="val 666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/>
          <a:lstStyle/>
          <a:p>
            <a:r>
              <a:rPr lang="en-US" sz="36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8559B1-087A-2390-A555-5083C84BC63F}"/>
              </a:ext>
            </a:extLst>
          </p:cNvPr>
          <p:cNvSpPr txBox="1"/>
          <p:nvPr/>
        </p:nvSpPr>
        <p:spPr>
          <a:xfrm>
            <a:off x="2559854" y="3087671"/>
            <a:ext cx="1385023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5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Case 1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4986A8-90A9-CBE4-B58C-7500150F9C7D}"/>
              </a:ext>
            </a:extLst>
          </p:cNvPr>
          <p:cNvSpPr txBox="1"/>
          <p:nvPr/>
        </p:nvSpPr>
        <p:spPr>
          <a:xfrm>
            <a:off x="8285619" y="3075647"/>
            <a:ext cx="1741356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5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Case 2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881083-9A81-2514-E8F6-0AB87D34CCE6}"/>
              </a:ext>
            </a:extLst>
          </p:cNvPr>
          <p:cNvSpPr txBox="1"/>
          <p:nvPr/>
        </p:nvSpPr>
        <p:spPr>
          <a:xfrm>
            <a:off x="2559854" y="4414860"/>
            <a:ext cx="2030539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5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Case 3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4175DA-9BE6-20F7-3AFE-A5A28ACE8F9B}"/>
              </a:ext>
            </a:extLst>
          </p:cNvPr>
          <p:cNvSpPr txBox="1"/>
          <p:nvPr/>
        </p:nvSpPr>
        <p:spPr>
          <a:xfrm>
            <a:off x="8285619" y="4414860"/>
            <a:ext cx="1456851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5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Case 4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07B442-3146-2D49-A479-0D7A4E5AF962}"/>
              </a:ext>
            </a:extLst>
          </p:cNvPr>
          <p:cNvSpPr txBox="1"/>
          <p:nvPr/>
        </p:nvSpPr>
        <p:spPr>
          <a:xfrm>
            <a:off x="2543926" y="3515032"/>
            <a:ext cx="3552074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Noto Sans TC" pitchFamily="34" charset="-122"/>
                <a:cs typeface="Times New Roman" panose="02020603050405020304" pitchFamily="18" charset="0"/>
              </a:rPr>
              <a:t>Input A = 0, B = 0 → Output = 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90EABC-6589-9822-82AD-621C6F05C152}"/>
              </a:ext>
            </a:extLst>
          </p:cNvPr>
          <p:cNvSpPr txBox="1"/>
          <p:nvPr/>
        </p:nvSpPr>
        <p:spPr>
          <a:xfrm>
            <a:off x="2476624" y="4859769"/>
            <a:ext cx="3504074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Noto Sans TC" pitchFamily="34" charset="-122"/>
                <a:cs typeface="Times New Roman" panose="02020603050405020304" pitchFamily="18" charset="0"/>
              </a:rPr>
              <a:t>Input A = 0, B = 1→ Output = 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5B2422-DF9E-6FCA-CD8D-E38F1ED1693D}"/>
              </a:ext>
            </a:extLst>
          </p:cNvPr>
          <p:cNvSpPr txBox="1"/>
          <p:nvPr/>
        </p:nvSpPr>
        <p:spPr>
          <a:xfrm>
            <a:off x="8207661" y="3597187"/>
            <a:ext cx="3638627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Noto Sans TC" pitchFamily="34" charset="-122"/>
                <a:cs typeface="Times New Roman" panose="02020603050405020304" pitchFamily="18" charset="0"/>
              </a:rPr>
              <a:t>Input A = 1, B = 0 → Output = 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3A7DE5-30E6-5C71-46DF-F00DB3D30515}"/>
              </a:ext>
            </a:extLst>
          </p:cNvPr>
          <p:cNvSpPr txBox="1"/>
          <p:nvPr/>
        </p:nvSpPr>
        <p:spPr>
          <a:xfrm>
            <a:off x="8229406" y="4800125"/>
            <a:ext cx="3504074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Noto Sans TC" pitchFamily="34" charset="-122"/>
                <a:cs typeface="Times New Roman" panose="02020603050405020304" pitchFamily="18" charset="0"/>
              </a:rPr>
              <a:t>Input A = 1, B = 1→ Output = 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0B9CD6A-1D97-CEDD-D45A-4F6B05A8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244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id="{8B9362A7-0711-848D-9EA0-90904EE01CB3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8009430" y="2751940"/>
            <a:ext cx="566976" cy="5669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93A460-71AF-F052-02A6-B93A00ACACC5}"/>
              </a:ext>
            </a:extLst>
          </p:cNvPr>
          <p:cNvSpPr txBox="1"/>
          <p:nvPr/>
        </p:nvSpPr>
        <p:spPr>
          <a:xfrm>
            <a:off x="8604354" y="2790713"/>
            <a:ext cx="1685221" cy="469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Case 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7CA275-F787-AB91-0483-1EFB7598B3CD}"/>
              </a:ext>
            </a:extLst>
          </p:cNvPr>
          <p:cNvSpPr txBox="1"/>
          <p:nvPr/>
        </p:nvSpPr>
        <p:spPr>
          <a:xfrm>
            <a:off x="4455827" y="396982"/>
            <a:ext cx="3878704" cy="76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Case Analysis</a:t>
            </a:r>
            <a:endParaRPr lang="en-US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B03B02-B550-A34F-E903-50E66F4B9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19" y="1354243"/>
            <a:ext cx="6439799" cy="53016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13EF9C-5CAA-8DAE-5625-D93CF00CB49D}"/>
              </a:ext>
            </a:extLst>
          </p:cNvPr>
          <p:cNvSpPr txBox="1"/>
          <p:nvPr/>
        </p:nvSpPr>
        <p:spPr>
          <a:xfrm>
            <a:off x="7339558" y="3846863"/>
            <a:ext cx="1843005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Cutoff Region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4A75742-8E4D-6792-AE06-B2F850F7BED5}"/>
              </a:ext>
            </a:extLst>
          </p:cNvPr>
          <p:cNvSpPr/>
          <p:nvPr/>
        </p:nvSpPr>
        <p:spPr>
          <a:xfrm>
            <a:off x="6985415" y="3846674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A077982-4EFA-B132-2672-0E5F760F4284}"/>
              </a:ext>
            </a:extLst>
          </p:cNvPr>
          <p:cNvSpPr/>
          <p:nvPr/>
        </p:nvSpPr>
        <p:spPr>
          <a:xfrm>
            <a:off x="9182564" y="3846674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9D18D1-D728-28AF-DEE7-422EB867D8EC}"/>
              </a:ext>
            </a:extLst>
          </p:cNvPr>
          <p:cNvSpPr txBox="1"/>
          <p:nvPr/>
        </p:nvSpPr>
        <p:spPr>
          <a:xfrm>
            <a:off x="9703007" y="3846674"/>
            <a:ext cx="2289124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saturation Region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C0F66C57-163E-EF1F-EE57-BC6A70F706FF}"/>
              </a:ext>
            </a:extLst>
          </p:cNvPr>
          <p:cNvSpPr/>
          <p:nvPr/>
        </p:nvSpPr>
        <p:spPr>
          <a:xfrm>
            <a:off x="6985415" y="5333198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5BF7E8-46E9-16FF-3772-58D7D77DEAFF}"/>
              </a:ext>
            </a:extLst>
          </p:cNvPr>
          <p:cNvSpPr txBox="1"/>
          <p:nvPr/>
        </p:nvSpPr>
        <p:spPr>
          <a:xfrm>
            <a:off x="7414507" y="5342816"/>
            <a:ext cx="1189847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Output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EC2090-DD74-537B-0B72-3D7A4B625D67}"/>
              </a:ext>
            </a:extLst>
          </p:cNvPr>
          <p:cNvSpPr txBox="1"/>
          <p:nvPr/>
        </p:nvSpPr>
        <p:spPr>
          <a:xfrm>
            <a:off x="7624209" y="5763572"/>
            <a:ext cx="148965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LED Off</a:t>
            </a:r>
            <a:endParaRPr 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48BA1D-8CD4-034D-B3C2-DA10EE20C0A5}"/>
              </a:ext>
            </a:extLst>
          </p:cNvPr>
          <p:cNvSpPr txBox="1"/>
          <p:nvPr/>
        </p:nvSpPr>
        <p:spPr>
          <a:xfrm>
            <a:off x="9982822" y="4493868"/>
            <a:ext cx="148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644A7813-C75E-2D82-D461-657D963C2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FBEB3C-5E49-9A6D-8607-501C2123FA7A}"/>
              </a:ext>
            </a:extLst>
          </p:cNvPr>
          <p:cNvSpPr txBox="1"/>
          <p:nvPr/>
        </p:nvSpPr>
        <p:spPr>
          <a:xfrm>
            <a:off x="7543172" y="4493868"/>
            <a:ext cx="16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Q1,Q2,Q4,Q5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6BE2F7-1313-65F8-FC87-9DF301B11406}"/>
              </a:ext>
            </a:extLst>
          </p:cNvPr>
          <p:cNvSpPr txBox="1"/>
          <p:nvPr/>
        </p:nvSpPr>
        <p:spPr>
          <a:xfrm>
            <a:off x="10106412" y="4470588"/>
            <a:ext cx="1113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3170031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BDF170-EDD9-2D8E-1BC4-5A01FDF7C495}"/>
              </a:ext>
            </a:extLst>
          </p:cNvPr>
          <p:cNvSpPr txBox="1"/>
          <p:nvPr/>
        </p:nvSpPr>
        <p:spPr>
          <a:xfrm>
            <a:off x="8604354" y="2790713"/>
            <a:ext cx="1685221" cy="469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Case 2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B5E4B-E1A2-3FC0-290F-62D8DDE9EB5E}"/>
              </a:ext>
            </a:extLst>
          </p:cNvPr>
          <p:cNvSpPr txBox="1"/>
          <p:nvPr/>
        </p:nvSpPr>
        <p:spPr>
          <a:xfrm>
            <a:off x="4455827" y="396982"/>
            <a:ext cx="3878704" cy="76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Case Analysis</a:t>
            </a:r>
            <a:endParaRPr lang="en-US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FE83E-6CD3-9764-3AF2-487EAC1227F2}"/>
              </a:ext>
            </a:extLst>
          </p:cNvPr>
          <p:cNvSpPr txBox="1"/>
          <p:nvPr/>
        </p:nvSpPr>
        <p:spPr>
          <a:xfrm>
            <a:off x="7339558" y="3846863"/>
            <a:ext cx="1843005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Cutoff Region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6A0407A-4126-5DA9-2B97-6956A418D63B}"/>
              </a:ext>
            </a:extLst>
          </p:cNvPr>
          <p:cNvSpPr/>
          <p:nvPr/>
        </p:nvSpPr>
        <p:spPr>
          <a:xfrm>
            <a:off x="6985415" y="3846674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C95461A-6607-CE6B-99E1-6F3B6BBF25FF}"/>
              </a:ext>
            </a:extLst>
          </p:cNvPr>
          <p:cNvSpPr/>
          <p:nvPr/>
        </p:nvSpPr>
        <p:spPr>
          <a:xfrm>
            <a:off x="9182564" y="3846674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63583-1B25-1686-BEEA-21D8A5CB531A}"/>
              </a:ext>
            </a:extLst>
          </p:cNvPr>
          <p:cNvSpPr txBox="1"/>
          <p:nvPr/>
        </p:nvSpPr>
        <p:spPr>
          <a:xfrm>
            <a:off x="9536707" y="3846674"/>
            <a:ext cx="2215582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saturation Region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D6E60C1B-E177-FB90-9C73-D2EA9A597322}"/>
              </a:ext>
            </a:extLst>
          </p:cNvPr>
          <p:cNvSpPr/>
          <p:nvPr/>
        </p:nvSpPr>
        <p:spPr>
          <a:xfrm>
            <a:off x="6985415" y="5333198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43FFB-21BB-D39E-D7EB-720B0E8505B0}"/>
              </a:ext>
            </a:extLst>
          </p:cNvPr>
          <p:cNvSpPr txBox="1"/>
          <p:nvPr/>
        </p:nvSpPr>
        <p:spPr>
          <a:xfrm>
            <a:off x="7414507" y="5342816"/>
            <a:ext cx="1189847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Output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C0A14-6991-DCDF-39FA-C6C062267BE0}"/>
              </a:ext>
            </a:extLst>
          </p:cNvPr>
          <p:cNvSpPr txBox="1"/>
          <p:nvPr/>
        </p:nvSpPr>
        <p:spPr>
          <a:xfrm>
            <a:off x="7414507" y="5763572"/>
            <a:ext cx="148965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LED O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578528-6584-5173-79E9-727F5E49FD72}"/>
              </a:ext>
            </a:extLst>
          </p:cNvPr>
          <p:cNvSpPr txBox="1"/>
          <p:nvPr/>
        </p:nvSpPr>
        <p:spPr>
          <a:xfrm>
            <a:off x="9982822" y="4493868"/>
            <a:ext cx="148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DAEB67B3-953D-EA9A-7011-852BB6D9DF1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8009430" y="2703229"/>
            <a:ext cx="566976" cy="566976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07DF29C-F25E-02FF-4200-2E466699F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16D2C54-D23E-CA3C-5327-A49D84035D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40" y="1308957"/>
            <a:ext cx="6430272" cy="522995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BA94C67-8D9D-28E6-92AF-FF47938BB370}"/>
              </a:ext>
            </a:extLst>
          </p:cNvPr>
          <p:cNvSpPr txBox="1"/>
          <p:nvPr/>
        </p:nvSpPr>
        <p:spPr>
          <a:xfrm>
            <a:off x="7687924" y="4493868"/>
            <a:ext cx="1189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Q2,Q4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45D4CD-A746-6A2F-0B65-7B78FEE6CE4C}"/>
              </a:ext>
            </a:extLst>
          </p:cNvPr>
          <p:cNvSpPr txBox="1"/>
          <p:nvPr/>
        </p:nvSpPr>
        <p:spPr>
          <a:xfrm>
            <a:off x="10010483" y="4493868"/>
            <a:ext cx="1343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Q1,Q3,Q5</a:t>
            </a:r>
          </a:p>
        </p:txBody>
      </p:sp>
    </p:spTree>
    <p:extLst>
      <p:ext uri="{BB962C8B-B14F-4D97-AF65-F5344CB8AC3E}">
        <p14:creationId xmlns:p14="http://schemas.microsoft.com/office/powerpoint/2010/main" val="256102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703D48-1D52-21F2-B0B8-480B394936E1}"/>
              </a:ext>
            </a:extLst>
          </p:cNvPr>
          <p:cNvSpPr txBox="1"/>
          <p:nvPr/>
        </p:nvSpPr>
        <p:spPr>
          <a:xfrm>
            <a:off x="8604354" y="2790713"/>
            <a:ext cx="1685221" cy="469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Case 3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30A52-5B35-B0B8-2DD0-625F525F7249}"/>
              </a:ext>
            </a:extLst>
          </p:cNvPr>
          <p:cNvSpPr txBox="1"/>
          <p:nvPr/>
        </p:nvSpPr>
        <p:spPr>
          <a:xfrm>
            <a:off x="4455827" y="396982"/>
            <a:ext cx="3878704" cy="76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Case Analysis</a:t>
            </a:r>
            <a:endParaRPr lang="en-US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5EEB1-4D2B-9A1F-4796-F60E80D4C109}"/>
              </a:ext>
            </a:extLst>
          </p:cNvPr>
          <p:cNvSpPr txBox="1"/>
          <p:nvPr/>
        </p:nvSpPr>
        <p:spPr>
          <a:xfrm>
            <a:off x="7339558" y="3846863"/>
            <a:ext cx="1843005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Cutoff Region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4892B36C-0ECF-9314-258E-3B883212B1C6}"/>
              </a:ext>
            </a:extLst>
          </p:cNvPr>
          <p:cNvSpPr/>
          <p:nvPr/>
        </p:nvSpPr>
        <p:spPr>
          <a:xfrm>
            <a:off x="6985415" y="3846674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C081DEB4-2997-3D0D-8EF5-56462266F20A}"/>
              </a:ext>
            </a:extLst>
          </p:cNvPr>
          <p:cNvSpPr/>
          <p:nvPr/>
        </p:nvSpPr>
        <p:spPr>
          <a:xfrm>
            <a:off x="9182564" y="3846674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2649F0-C2AB-33CD-E0B6-779F4B1186A0}"/>
              </a:ext>
            </a:extLst>
          </p:cNvPr>
          <p:cNvSpPr txBox="1"/>
          <p:nvPr/>
        </p:nvSpPr>
        <p:spPr>
          <a:xfrm>
            <a:off x="9703007" y="3846674"/>
            <a:ext cx="2290863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saturation Region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F6ACE3F-E969-DDF2-48F3-23557AAD88C3}"/>
              </a:ext>
            </a:extLst>
          </p:cNvPr>
          <p:cNvSpPr/>
          <p:nvPr/>
        </p:nvSpPr>
        <p:spPr>
          <a:xfrm>
            <a:off x="6985415" y="5333198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92E0AE-3518-DD4E-83E0-2BABD93AA6AF}"/>
              </a:ext>
            </a:extLst>
          </p:cNvPr>
          <p:cNvSpPr txBox="1"/>
          <p:nvPr/>
        </p:nvSpPr>
        <p:spPr>
          <a:xfrm>
            <a:off x="7414507" y="5342816"/>
            <a:ext cx="1189847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Output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DB4D6-A911-B1D8-1013-AD9369BBFEDA}"/>
              </a:ext>
            </a:extLst>
          </p:cNvPr>
          <p:cNvSpPr txBox="1"/>
          <p:nvPr/>
        </p:nvSpPr>
        <p:spPr>
          <a:xfrm>
            <a:off x="7414507" y="5763572"/>
            <a:ext cx="148965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LED ON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CD84A2-6DAB-9842-ACDA-9370DDAF63FC}"/>
              </a:ext>
            </a:extLst>
          </p:cNvPr>
          <p:cNvSpPr txBox="1"/>
          <p:nvPr/>
        </p:nvSpPr>
        <p:spPr>
          <a:xfrm>
            <a:off x="9982822" y="4493868"/>
            <a:ext cx="148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104A547F-6926-C104-C04D-ADB8178D181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8085082" y="2703229"/>
            <a:ext cx="566976" cy="566976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29D7297-A6C9-5B0D-2FE5-D59273A6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8FE37D9-CE70-88F7-E747-7DD372945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30" y="1375436"/>
            <a:ext cx="6373114" cy="53728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1EF47A8-30BA-6B9A-B798-0BBD5E5B7FFF}"/>
              </a:ext>
            </a:extLst>
          </p:cNvPr>
          <p:cNvSpPr txBox="1"/>
          <p:nvPr/>
        </p:nvSpPr>
        <p:spPr>
          <a:xfrm>
            <a:off x="7553484" y="4465542"/>
            <a:ext cx="162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Q1,Q2,Q4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0C0375-118C-48DB-D259-09DEDE1E572E}"/>
              </a:ext>
            </a:extLst>
          </p:cNvPr>
          <p:cNvSpPr txBox="1"/>
          <p:nvPr/>
        </p:nvSpPr>
        <p:spPr>
          <a:xfrm>
            <a:off x="10141310" y="4412666"/>
            <a:ext cx="111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Q3,Q5</a:t>
            </a:r>
          </a:p>
        </p:txBody>
      </p:sp>
    </p:spTree>
    <p:extLst>
      <p:ext uri="{BB962C8B-B14F-4D97-AF65-F5344CB8AC3E}">
        <p14:creationId xmlns:p14="http://schemas.microsoft.com/office/powerpoint/2010/main" val="2626680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id="{50CE2617-7933-9244-4E36-BFC92D076DD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8144342" y="2742129"/>
            <a:ext cx="566976" cy="566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DE6049-E89C-A773-8415-A5297BE872C2}"/>
              </a:ext>
            </a:extLst>
          </p:cNvPr>
          <p:cNvSpPr txBox="1"/>
          <p:nvPr/>
        </p:nvSpPr>
        <p:spPr>
          <a:xfrm>
            <a:off x="8604354" y="2790713"/>
            <a:ext cx="1685221" cy="469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Case 4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9CBE1-EDE5-C60C-8D5A-83EDAFD9015E}"/>
              </a:ext>
            </a:extLst>
          </p:cNvPr>
          <p:cNvSpPr txBox="1"/>
          <p:nvPr/>
        </p:nvSpPr>
        <p:spPr>
          <a:xfrm>
            <a:off x="4725650" y="412097"/>
            <a:ext cx="3878704" cy="76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Case Analysis</a:t>
            </a:r>
            <a:endParaRPr lang="en-US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119CE-684E-D156-1858-D1EBBA35FE3D}"/>
              </a:ext>
            </a:extLst>
          </p:cNvPr>
          <p:cNvSpPr txBox="1"/>
          <p:nvPr/>
        </p:nvSpPr>
        <p:spPr>
          <a:xfrm>
            <a:off x="7339558" y="3846863"/>
            <a:ext cx="1843005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Cutoff Region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B5C0B7D-1079-E22C-89A3-2097F982CB7C}"/>
              </a:ext>
            </a:extLst>
          </p:cNvPr>
          <p:cNvSpPr/>
          <p:nvPr/>
        </p:nvSpPr>
        <p:spPr>
          <a:xfrm>
            <a:off x="6985415" y="3846674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D5BE1D81-B166-A0BA-890A-511CCD0E7997}"/>
              </a:ext>
            </a:extLst>
          </p:cNvPr>
          <p:cNvSpPr/>
          <p:nvPr/>
        </p:nvSpPr>
        <p:spPr>
          <a:xfrm>
            <a:off x="9182564" y="3846674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CFE01-CFB4-26D1-B035-9049CA280197}"/>
              </a:ext>
            </a:extLst>
          </p:cNvPr>
          <p:cNvSpPr txBox="1"/>
          <p:nvPr/>
        </p:nvSpPr>
        <p:spPr>
          <a:xfrm>
            <a:off x="9703007" y="3846674"/>
            <a:ext cx="2200759" cy="43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saturation Region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71F484B-F087-C2A7-80E3-5A9E6A7C3285}"/>
              </a:ext>
            </a:extLst>
          </p:cNvPr>
          <p:cNvSpPr/>
          <p:nvPr/>
        </p:nvSpPr>
        <p:spPr>
          <a:xfrm>
            <a:off x="6985415" y="5333198"/>
            <a:ext cx="354143" cy="43037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20FADD-96F8-E7C6-54BC-03D9A79BCD9C}"/>
              </a:ext>
            </a:extLst>
          </p:cNvPr>
          <p:cNvSpPr txBox="1"/>
          <p:nvPr/>
        </p:nvSpPr>
        <p:spPr>
          <a:xfrm>
            <a:off x="7414507" y="5342816"/>
            <a:ext cx="1189847" cy="42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464646"/>
                </a:solidFill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Output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D5E33-EFBB-8487-B08A-376BDA1432C5}"/>
              </a:ext>
            </a:extLst>
          </p:cNvPr>
          <p:cNvSpPr txBox="1"/>
          <p:nvPr/>
        </p:nvSpPr>
        <p:spPr>
          <a:xfrm>
            <a:off x="7563784" y="5778163"/>
            <a:ext cx="148965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LED Off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1582A6-7426-D5DE-6138-67D5D9039C21}"/>
              </a:ext>
            </a:extLst>
          </p:cNvPr>
          <p:cNvSpPr txBox="1"/>
          <p:nvPr/>
        </p:nvSpPr>
        <p:spPr>
          <a:xfrm>
            <a:off x="9982822" y="4493868"/>
            <a:ext cx="148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19BEC8-B86B-3AB0-7DE9-1B6750466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1482677"/>
            <a:ext cx="6277851" cy="515374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B2373B-DC70-A352-C2FC-860797F73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8F49B3-DAA1-788B-E0BC-2BB5C98DCD69}"/>
              </a:ext>
            </a:extLst>
          </p:cNvPr>
          <p:cNvSpPr txBox="1"/>
          <p:nvPr/>
        </p:nvSpPr>
        <p:spPr>
          <a:xfrm>
            <a:off x="7669501" y="4454566"/>
            <a:ext cx="148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9747DA-FA25-F50D-98C6-FA13B4B57DFF}"/>
              </a:ext>
            </a:extLst>
          </p:cNvPr>
          <p:cNvSpPr txBox="1"/>
          <p:nvPr/>
        </p:nvSpPr>
        <p:spPr>
          <a:xfrm>
            <a:off x="9536707" y="4384340"/>
            <a:ext cx="1817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Q1,Q2, Q4,Q5</a:t>
            </a:r>
          </a:p>
        </p:txBody>
      </p:sp>
    </p:spTree>
    <p:extLst>
      <p:ext uri="{BB962C8B-B14F-4D97-AF65-F5344CB8AC3E}">
        <p14:creationId xmlns:p14="http://schemas.microsoft.com/office/powerpoint/2010/main" val="2195997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FE34E9-1EEC-7DA1-9783-D56FB5B2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3C7DB-4D2E-378E-79AF-6F91F1E0B2F7}"/>
              </a:ext>
            </a:extLst>
          </p:cNvPr>
          <p:cNvSpPr txBox="1"/>
          <p:nvPr/>
        </p:nvSpPr>
        <p:spPr>
          <a:xfrm>
            <a:off x="471948" y="494906"/>
            <a:ext cx="609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Case 3 Results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7C466-9B6A-BC57-9953-03A50A72A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" y="1176337"/>
            <a:ext cx="10884310" cy="548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4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FCAF2B-589B-3791-5E7F-7ED8C488C8E1}"/>
              </a:ext>
            </a:extLst>
          </p:cNvPr>
          <p:cNvSpPr txBox="1"/>
          <p:nvPr/>
        </p:nvSpPr>
        <p:spPr>
          <a:xfrm>
            <a:off x="1001261" y="768309"/>
            <a:ext cx="2844384" cy="75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ea typeface="DM Sans Semi Bold" pitchFamily="34" charset="-122"/>
                <a:cs typeface="Times New Roman" panose="02020603050405020304" pitchFamily="18" charset="0"/>
              </a:rPr>
              <a:t>Conclusion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C90DBD-E311-285E-94D0-4AD92C713BDE}"/>
              </a:ext>
            </a:extLst>
          </p:cNvPr>
          <p:cNvSpPr txBox="1"/>
          <p:nvPr/>
        </p:nvSpPr>
        <p:spPr>
          <a:xfrm>
            <a:off x="1001261" y="2372744"/>
            <a:ext cx="10340249" cy="1581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sz="3200" dirty="0">
                <a:solidFill>
                  <a:srgbClr val="464646"/>
                </a:solidFill>
                <a:latin typeface="Calibri" panose="020F0502020204030204" pitchFamily="34" charset="0"/>
                <a:ea typeface="Inter Medium" pitchFamily="34" charset="-122"/>
                <a:cs typeface="Calibri" panose="020F0502020204030204" pitchFamily="34" charset="0"/>
              </a:rPr>
              <a:t>The XOR gate implementation using BJTs effectively fulfills the XOR gate truth table. This gate can be used as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Comparator.</a:t>
            </a:r>
            <a:r>
              <a:rPr lang="en-US" sz="3200" dirty="0">
                <a:solidFill>
                  <a:srgbClr val="464646"/>
                </a:solidFill>
                <a:latin typeface="Calibri" panose="020F0502020204030204" pitchFamily="34" charset="0"/>
                <a:ea typeface="Inter Medium" pitchFamily="34" charset="-122"/>
                <a:cs typeface="Calibri" panose="020F0502020204030204" pitchFamily="34" charset="0"/>
              </a:rPr>
              <a:t> The circuit's behavior was validated through both software simulation and hardware implementation. 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45F60-C25D-4C33-6BB5-C3EAC0EE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594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EC4248-721A-E572-7868-316B12ED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BD187-2E8F-6EF0-88B5-47914F27B6EB}"/>
              </a:ext>
            </a:extLst>
          </p:cNvPr>
          <p:cNvSpPr txBox="1"/>
          <p:nvPr/>
        </p:nvSpPr>
        <p:spPr>
          <a:xfrm>
            <a:off x="1238865" y="1063416"/>
            <a:ext cx="4857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8EAC1-E5BB-E24F-36D7-7936C04081AD}"/>
              </a:ext>
            </a:extLst>
          </p:cNvPr>
          <p:cNvSpPr txBox="1"/>
          <p:nvPr/>
        </p:nvSpPr>
        <p:spPr>
          <a:xfrm>
            <a:off x="1238865" y="2168013"/>
            <a:ext cx="103769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i="0" u="none" strike="noStrike" baseline="0" dirty="0">
                <a:solidFill>
                  <a:srgbClr val="0070C0"/>
                </a:solidFill>
                <a:latin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https://www.youtube.com/watch?v=sTu3LwpF6XI&amp;t=660s&amp;pp=ygUlaG93IHRvIG1ha2UgeG9yIGdhdGUgdXNpbmcgdHJhbnNpc3Rvcg%3D%3D</a:t>
            </a:r>
            <a:endParaRPr lang="en-US" sz="2400" i="0" u="none" strike="noStrike" baseline="0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40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0" u="none" strike="noStrike" baseline="0" dirty="0">
                <a:solidFill>
                  <a:srgbClr val="0462C1"/>
                </a:solidFill>
                <a:latin typeface="Calibri" panose="020F0502020204030204" pitchFamily="34" charset="0"/>
              </a:rPr>
              <a:t>https://www.gsnetwork.com/xor-gate/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40613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4A61D6-0EAB-743F-FCD4-1F28AD60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FB97-72F7-4DC0-A829-679633247F2D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01790D-836F-50E7-5A23-12FA0B548780}"/>
              </a:ext>
            </a:extLst>
          </p:cNvPr>
          <p:cNvSpPr txBox="1"/>
          <p:nvPr/>
        </p:nvSpPr>
        <p:spPr>
          <a:xfrm>
            <a:off x="4272424" y="2824335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934948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802</TotalTime>
  <Words>289</Words>
  <Application>Microsoft Office PowerPoint</Application>
  <PresentationFormat>Widescreen</PresentationFormat>
  <Paragraphs>89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Century Gothic</vt:lpstr>
      <vt:lpstr>Inter Medium</vt:lpstr>
      <vt:lpstr>Noto Sans TC</vt:lpstr>
      <vt:lpstr>Sora Medium</vt:lpstr>
      <vt:lpstr>Times New Roman</vt:lpstr>
      <vt:lpstr>Wingdings 3</vt:lpstr>
      <vt:lpstr>Ion Boardroom</vt:lpstr>
      <vt:lpstr>XOR Gate Implementation using BJTs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RAHEEM BAKHSH</dc:creator>
  <cp:lastModifiedBy>Hasan Ali Ahmad</cp:lastModifiedBy>
  <cp:revision>9</cp:revision>
  <dcterms:created xsi:type="dcterms:W3CDTF">2025-01-12T14:20:25Z</dcterms:created>
  <dcterms:modified xsi:type="dcterms:W3CDTF">2025-01-13T17:20:34Z</dcterms:modified>
</cp:coreProperties>
</file>